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Web Socket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Network Programming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What is Socket 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 socket is one endpoint of a two way communication link between two programs running on the network. The socket mechanism provides a means of inter-process communication (IPC) by establishing named contact points between which the communication take place.</a:t>
            </a:r>
            <a:endParaRPr lang="en-US" altLang="en-US"/>
          </a:p>
          <a:p>
            <a:r>
              <a:rPr lang="en-US" altLang="en-US"/>
              <a:t>Unix Socket or Windows Socket</a:t>
            </a:r>
            <a:endParaRPr lang="en-US" altLang="en-US"/>
          </a:p>
          <a:p>
            <a:r>
              <a:rPr lang="en-US" altLang="en-US"/>
              <a:t>TCP Socket Gives the most reliable communication across the network.</a:t>
            </a:r>
            <a:endParaRPr lang="en-US" altLang="en-US"/>
          </a:p>
          <a:p>
            <a:r>
              <a:rPr lang="en-US" altLang="en-US"/>
              <a:t>TLS Socket Configurable and secure network socket over SSL. = HTTP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UDP Sockets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UDP Sockets Gives the fastest network communication. UDP is less reliable but much faster than TCP. </a:t>
            </a:r>
            <a:endParaRPr lang="en-US" altLang="en-US"/>
          </a:p>
          <a:p>
            <a:r>
              <a:rPr lang="en-US" altLang="en-US"/>
              <a:t>It is best used for streaming non critical data like sound, video, or multiplayer game data as it can drop packets depending on network connectivity and other factors.</a:t>
            </a:r>
            <a:endParaRPr lang="en-US" altLang="en-US"/>
          </a:p>
          <a:p>
            <a:r>
              <a:rPr lang="en-US" altLang="en-US"/>
              <a:t>UDP can be used for local IPC as well, but is slower than #1's Unix Socket or Windows Socket Implementation because UDP sockets go through the network card while Unix and Windows Sockets do not.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4270" y="4882515"/>
            <a:ext cx="5381625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 module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315" y="1497965"/>
            <a:ext cx="11075035" cy="5064760"/>
          </a:xfrm>
        </p:spPr>
        <p:txBody>
          <a:bodyPr>
            <a:normAutofit fontScale="90000"/>
          </a:bodyPr>
          <a:p>
            <a:r>
              <a:rPr lang="en-US" altLang="en-US"/>
              <a:t>Node.js </a:t>
            </a:r>
            <a:r>
              <a:rPr lang="en-US" altLang="en-US" b="1"/>
              <a:t>net </a:t>
            </a:r>
            <a:r>
              <a:rPr lang="en-US" altLang="en-US"/>
              <a:t>module is used to create both servers and clients. This module provides an asynchronous network wrapper.</a:t>
            </a:r>
            <a:endParaRPr lang="en-US" altLang="en-US"/>
          </a:p>
          <a:p>
            <a:r>
              <a:rPr lang="en-US" altLang="en-US" b="1" u="sng"/>
              <a:t>Variants of sockets in Node:</a:t>
            </a:r>
            <a:endParaRPr lang="en-US" altLang="en-US" b="1" u="sng"/>
          </a:p>
          <a:p>
            <a:r>
              <a:rPr lang="en-US" altLang="en-US"/>
              <a:t>TCP</a:t>
            </a:r>
            <a:endParaRPr lang="en-US" altLang="en-US"/>
          </a:p>
          <a:p>
            <a:r>
              <a:rPr lang="en-US" altLang="en-US"/>
              <a:t>UDP</a:t>
            </a:r>
            <a:endParaRPr lang="en-US" altLang="en-US"/>
          </a:p>
          <a:p>
            <a:r>
              <a:rPr lang="en-US" altLang="en-US"/>
              <a:t>Websocket</a:t>
            </a:r>
            <a:endParaRPr lang="en-US" altLang="en-US"/>
          </a:p>
          <a:p>
            <a:r>
              <a:rPr lang="en-US" altLang="en-US"/>
              <a:t>UNIX domain (node-ipc package)</a:t>
            </a:r>
            <a:endParaRPr lang="en-US" altLang="en-US"/>
          </a:p>
          <a:p>
            <a:r>
              <a:rPr lang="en-US" altLang="en-US" b="1" u="sng"/>
              <a:t>There are two categories of TCP socket programs you can write:</a:t>
            </a:r>
            <a:endParaRPr lang="en-US" altLang="en-US" b="1" u="sng"/>
          </a:p>
          <a:p>
            <a:r>
              <a:rPr lang="en-US" altLang="en-US"/>
              <a:t>Server - listens for connections to it from clients and send data to the client</a:t>
            </a:r>
            <a:endParaRPr lang="en-US" altLang="en-US"/>
          </a:p>
          <a:p>
            <a:r>
              <a:rPr lang="en-US" altLang="en-US"/>
              <a:t>Client - connects to a TCP server exchange data with it. The communication between client and server happens via sockets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639445"/>
          </a:xfrm>
        </p:spPr>
        <p:txBody>
          <a:bodyPr>
            <a:normAutofit fontScale="90000"/>
          </a:bodyPr>
          <a:p>
            <a:pPr algn="ctr"/>
            <a:r>
              <a:rPr 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npm Packages for web-socket</a:t>
            </a:r>
            <a:endParaRPr 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0" y="639445"/>
          <a:ext cx="12192000" cy="6500495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564640"/>
                <a:gridCol w="1932305"/>
                <a:gridCol w="2200910"/>
                <a:gridCol w="1763395"/>
                <a:gridCol w="2320925"/>
                <a:gridCol w="2409825"/>
              </a:tblGrid>
              <a:tr h="304800">
                <a:tc>
                  <a:txBody>
                    <a:bodyPr/>
                    <a:p>
                      <a:pPr algn="ctr"/>
                      <a:r>
                        <a:rPr sz="2000"/>
                        <a:t>Module / Library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Type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Purpose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Protocol Used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Use Cases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Key Features</a:t>
                      </a:r>
                      <a:endParaRPr sz="2000"/>
                    </a:p>
                  </a:txBody>
                  <a:tcPr marL="0" marR="0" marT="0" marB="0" anchor="ctr" anchorCtr="0"/>
                </a:tc>
              </a:tr>
              <a:tr h="1828800">
                <a:tc>
                  <a:txBody>
                    <a:bodyPr/>
                    <a:p>
                      <a:pPr algn="ctr"/>
                      <a:r>
                        <a:rPr sz="2000"/>
                        <a:t>node-ipc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External npm library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Inter-process communication (IPC) between Node apps, processes, or systems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Supports TCP, UDP, Unix/Windows Sockets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Messaging between processes, microservices communication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High-level API, supports JSON, secure communication, cross-platform</a:t>
                      </a:r>
                      <a:endParaRPr sz="2000"/>
                    </a:p>
                  </a:txBody>
                  <a:tcPr marL="0" marR="0" marT="0" marB="0" anchor="ctr" anchorCtr="0"/>
                </a:tc>
              </a:tr>
              <a:tr h="1318895">
                <a:tc>
                  <a:txBody>
                    <a:bodyPr/>
                    <a:p>
                      <a:pPr algn="ctr"/>
                      <a:r>
                        <a:rPr sz="2000"/>
                        <a:t>net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Built-in Node.js module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Provides TCP socket programming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TCP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Building custom TCP servers/clients, chat apps, database drivers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Low-level API, full control over sockets, event-driven</a:t>
                      </a:r>
                      <a:endParaRPr sz="2000"/>
                    </a:p>
                  </a:txBody>
                  <a:tcPr marL="0" marR="0" marT="0" marB="0" anchor="ctr" anchorCtr="0"/>
                </a:tc>
              </a:tr>
              <a:tr h="1219200">
                <a:tc>
                  <a:txBody>
                    <a:bodyPr/>
                    <a:p>
                      <a:pPr algn="ctr"/>
                      <a:r>
                        <a:rPr sz="2000"/>
                        <a:t>dgram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Built-in Node.js module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Provides UDP socket programming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UDP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Streaming, VoIP, DNS, games, IoT device communication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Lightweight, connectionless, fast but no delivery guarantee</a:t>
                      </a:r>
                      <a:endParaRPr sz="2000"/>
                    </a:p>
                  </a:txBody>
                  <a:tcPr marL="0" marR="0" marT="0" marB="0" anchor="ctr" anchorCtr="0"/>
                </a:tc>
              </a:tr>
              <a:tr h="1524000">
                <a:tc>
                  <a:txBody>
                    <a:bodyPr/>
                    <a:p>
                      <a:pPr algn="ctr"/>
                      <a:r>
                        <a:rPr sz="2000"/>
                        <a:t>ws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External npm library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WebSocket implementation for Node.js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WebSockets (built on TCP)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Real-time apps (chat, gaming, live dashboards)</a:t>
                      </a:r>
                      <a:endParaRPr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000"/>
                        <a:t>Lightweight, full-duplex communication, supports client/server</a:t>
                      </a:r>
                      <a:endParaRPr sz="20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WebSockets for Developers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Independent TCP-based protocol (full-duplex communication).</a:t>
            </a:r>
            <a:endParaRPr lang="en-US" altLang="en-US"/>
          </a:p>
          <a:p>
            <a:r>
              <a:rPr lang="en-US" altLang="en-US"/>
              <a:t>Transport layer → supports sub-protocols (XMPP, STOMP, AMQP).</a:t>
            </a:r>
            <a:endParaRPr lang="en-US" altLang="en-US"/>
          </a:p>
          <a:p>
            <a:r>
              <a:rPr lang="en-US" altLang="en-US"/>
              <a:t>Moves beyond HTTP request-response model.</a:t>
            </a:r>
            <a:endParaRPr lang="en-US" altLang="en-US"/>
          </a:p>
          <a:p>
            <a:r>
              <a:rPr lang="en-US" altLang="en-US"/>
              <a:t>Requires:</a:t>
            </a:r>
            <a:endParaRPr lang="en-US" altLang="en-US"/>
          </a:p>
          <a:p>
            <a:r>
              <a:rPr lang="en-US" altLang="en-US"/>
              <a:t>Client → JavaScript WebSocket API.</a:t>
            </a:r>
            <a:endParaRPr lang="en-US" altLang="en-US"/>
          </a:p>
          <a:p>
            <a:r>
              <a:rPr lang="en-US" altLang="en-US"/>
              <a:t>Server → WebSocket gateway or protocol libraries.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Use cases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Multiplayer online games </a:t>
            </a:r>
            <a:r>
              <a:rPr lang="zh-CN" altLang="en-US"/>
              <a:t>🎮</a:t>
            </a:r>
            <a:endParaRPr lang="en-US" altLang="en-US"/>
          </a:p>
          <a:p>
            <a:r>
              <a:rPr lang="en-US" altLang="en-US"/>
              <a:t>Chat applications </a:t>
            </a:r>
            <a:r>
              <a:rPr lang="zh-CN" altLang="en-US"/>
              <a:t>💬</a:t>
            </a:r>
            <a:endParaRPr lang="en-US" altLang="en-US"/>
          </a:p>
          <a:p>
            <a:r>
              <a:rPr lang="en-US" altLang="en-US"/>
              <a:t>Live sports ticker </a:t>
            </a:r>
            <a:r>
              <a:rPr lang="zh-CN" altLang="en-US"/>
              <a:t>🏏⚽</a:t>
            </a:r>
            <a:endParaRPr lang="en-US" altLang="en-US"/>
          </a:p>
          <a:p>
            <a:r>
              <a:rPr lang="en-US" altLang="en-US"/>
              <a:t>Realtime social feeds &amp; dashboards </a:t>
            </a:r>
            <a:r>
              <a:rPr lang="zh-CN" altLang="en-US"/>
              <a:t>📈</a:t>
            </a:r>
            <a:endParaRPr lang="en-US" altLang="en-US"/>
          </a:p>
          <a:p>
            <a:r>
              <a:rPr lang="en-US" altLang="en-US"/>
              <a:t>WebSockets power both web and mobile apps with real-time interaction.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Server and Client Side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 b="1"/>
              <a:t>Build WebSocket server with libraries:</a:t>
            </a:r>
            <a:endParaRPr lang="en-US" altLang="en-US" b="1"/>
          </a:p>
          <a:p>
            <a:r>
              <a:rPr lang="en-US" altLang="en-US"/>
              <a:t>Node.js → ws, socket.io</a:t>
            </a:r>
            <a:endParaRPr lang="en-US" altLang="en-US"/>
          </a:p>
          <a:p>
            <a:r>
              <a:rPr lang="en-US" altLang="en-US"/>
              <a:t>Java → Jetty</a:t>
            </a:r>
            <a:endParaRPr lang="en-US" altLang="en-US"/>
          </a:p>
          <a:p>
            <a:r>
              <a:rPr lang="en-US" altLang="en-US"/>
              <a:t>Python → Tornado, pywebsocket</a:t>
            </a:r>
            <a:endParaRPr lang="en-US" altLang="en-US"/>
          </a:p>
          <a:p>
            <a:r>
              <a:rPr lang="en-US" altLang="en-US"/>
              <a:t>PHP → Ratchet, phpws</a:t>
            </a:r>
            <a:endParaRPr lang="en-US" altLang="en-US"/>
          </a:p>
          <a:p>
            <a:r>
              <a:rPr lang="en-US" altLang="en-US"/>
              <a:t>Communicates with many client types.</a:t>
            </a:r>
            <a:endParaRPr lang="en-US" altLang="en-US"/>
          </a:p>
          <a:p>
            <a:r>
              <a:rPr lang="en-US" altLang="en-US" b="1"/>
              <a:t>Client Side</a:t>
            </a:r>
            <a:endParaRPr lang="en-US" altLang="en-US" b="1"/>
          </a:p>
          <a:p>
            <a:r>
              <a:rPr lang="en-US" altLang="en-US"/>
              <a:t>Supported in all modern browsers.</a:t>
            </a:r>
            <a:endParaRPr lang="en-US" altLang="en-US"/>
          </a:p>
          <a:p>
            <a:r>
              <a:rPr lang="en-US" altLang="en-US"/>
              <a:t>Clients: Web browsers, mobile apps, Java, Node.js, .NET, PHP.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WebSocket Connection Flow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5000"/>
          </a:bodyPr>
          <a:p>
            <a:r>
              <a:rPr lang="en-US" altLang="en-US"/>
              <a:t>WebSocket Connection Flow</a:t>
            </a:r>
            <a:endParaRPr lang="en-US" altLang="en-US"/>
          </a:p>
          <a:p>
            <a:r>
              <a:rPr lang="en-US" altLang="en-US"/>
              <a:t>Client sends HTTP request with Upgrade: websocket.</a:t>
            </a:r>
            <a:endParaRPr lang="en-US" altLang="en-US"/>
          </a:p>
          <a:p>
            <a:r>
              <a:rPr lang="en-US" altLang="en-US"/>
              <a:t>Server upgrades connection → handshake complete.</a:t>
            </a:r>
            <a:endParaRPr lang="en-US" altLang="en-US"/>
          </a:p>
          <a:p>
            <a:r>
              <a:rPr lang="en-US" altLang="en-US"/>
              <a:t>URL scheme: ws:// or secure wss://.</a:t>
            </a:r>
            <a:endParaRPr lang="en-US" altLang="en-US"/>
          </a:p>
          <a:p>
            <a:r>
              <a:rPr lang="en-US" altLang="en-US"/>
              <a:t>After handshake:</a:t>
            </a:r>
            <a:endParaRPr lang="en-US" altLang="en-US"/>
          </a:p>
          <a:p>
            <a:r>
              <a:rPr lang="en-US" altLang="en-US"/>
              <a:t>Client ↔ Server exchange messages freely.</a:t>
            </a:r>
            <a:endParaRPr lang="en-US" altLang="en-US"/>
          </a:p>
          <a:p>
            <a:r>
              <a:rPr lang="en-US" altLang="en-US"/>
              <a:t>Low latency, minimal overhead.</a:t>
            </a:r>
            <a:endParaRPr lang="en-US" altLang="en-US"/>
          </a:p>
          <a:p>
            <a:r>
              <a:rPr lang="en-US" altLang="en-US"/>
              <a:t>Enables simultaneous communication.</a:t>
            </a:r>
            <a:endParaRPr lang="en-US" altLang="en-US"/>
          </a:p>
          <a:p>
            <a:r>
              <a:rPr lang="en-US" altLang="en-US" b="1"/>
              <a:t>Package: ws</a:t>
            </a:r>
            <a:endParaRPr lang="en-US" altLang="en-US" b="1"/>
          </a:p>
          <a:p>
            <a:r>
              <a:rPr lang="en-US" altLang="en-US"/>
              <a:t>Lightweight Node.js WebSocket library.</a:t>
            </a:r>
            <a:endParaRPr lang="en-US" altLang="en-US"/>
          </a:p>
          <a:p>
            <a:r>
              <a:rPr lang="en-US" altLang="en-US"/>
              <a:t>Faster than HTTP polling, full-duplex channel.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9685" y="3121025"/>
            <a:ext cx="4984115" cy="27343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Full Flow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98040" y="1323340"/>
            <a:ext cx="8301355" cy="553466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59*473"/>
  <p:tag name="TABLE_ENDDRAG_RECT" val="0*50*960*47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3449</Words>
  <Application>WPS Presentation</Application>
  <PresentationFormat>Widescreen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Socket</dc:title>
  <dc:creator>Vraj Suratwala</dc:creator>
  <cp:lastModifiedBy>Vraj Suratwala</cp:lastModifiedBy>
  <cp:revision>2</cp:revision>
  <dcterms:created xsi:type="dcterms:W3CDTF">2025-09-02T19:37:40Z</dcterms:created>
  <dcterms:modified xsi:type="dcterms:W3CDTF">2025-09-02T20:05:26Z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AB76B35825A64DA1AF237FED351B3826_11</vt:lpwstr>
  </property>
  <property fmtid="{D5CDD505-2E9C-101B-9397-08002B2CF9AE}" pid="3" name="KSOProductBuildVer">
    <vt:lpwstr>1033-12.2.0.21931</vt:lpwstr>
  </property>
</Properties>
</file>